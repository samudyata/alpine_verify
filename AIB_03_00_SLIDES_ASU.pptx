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Low Alps (&lt;1500m)</c:v>
                </c:pt>
              </c:strCache>
            </c:strRef>
          </c:tx>
          <c:spPr>
            <a:solidFill>
              <a:srgbClr val="3B82F6"/>
            </a:solidFill>
            <a:ln w="31750" cap="flat">
              <a:solidFill>
                <a:srgbClr val="3B82F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B82F6"/>
              </a:solidFill>
              <a:ln w="9525" cap="flat">
                <a:solidFill>
                  <a:srgbClr val="3B82F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Sheet1!$A$2:$A$26</c:f>
              <c:multiLvlStrCache>
                <c:ptCount val="25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</c:lvl>
              </c:multiLvlStrCache>
            </c:multiLvl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155</c:v>
                </c:pt>
                <c:pt idx="1">
                  <c:v>158</c:v>
                </c:pt>
                <c:pt idx="2">
                  <c:v>143</c:v>
                </c:pt>
                <c:pt idx="3">
                  <c:v>162</c:v>
                </c:pt>
                <c:pt idx="4">
                  <c:v>165</c:v>
                </c:pt>
                <c:pt idx="5">
                  <c:v>142</c:v>
                </c:pt>
                <c:pt idx="6">
                  <c:v>153</c:v>
                </c:pt>
                <c:pt idx="7">
                  <c:v>168</c:v>
                </c:pt>
                <c:pt idx="8">
                  <c:v>152</c:v>
                </c:pt>
                <c:pt idx="9">
                  <c:v>134</c:v>
                </c:pt>
                <c:pt idx="10">
                  <c:v>190</c:v>
                </c:pt>
                <c:pt idx="11">
                  <c:v>115</c:v>
                </c:pt>
                <c:pt idx="12">
                  <c:v>175</c:v>
                </c:pt>
                <c:pt idx="13">
                  <c:v>170</c:v>
                </c:pt>
                <c:pt idx="14">
                  <c:v>180</c:v>
                </c:pt>
                <c:pt idx="15">
                  <c:v>135</c:v>
                </c:pt>
                <c:pt idx="16">
                  <c:v>131</c:v>
                </c:pt>
                <c:pt idx="17">
                  <c:v>133</c:v>
                </c:pt>
                <c:pt idx="18">
                  <c:v>122</c:v>
                </c:pt>
                <c:pt idx="19">
                  <c:v>124</c:v>
                </c:pt>
                <c:pt idx="20">
                  <c:v>157</c:v>
                </c:pt>
                <c:pt idx="21">
                  <c:v>148</c:v>
                </c:pt>
                <c:pt idx="22">
                  <c:v>136</c:v>
                </c:pt>
                <c:pt idx="23">
                  <c:v>113</c:v>
                </c:pt>
                <c:pt idx="24">
                  <c:v>112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Mid Alps (1500-2500m)</c:v>
                </c:pt>
              </c:strCache>
            </c:strRef>
          </c:tx>
          <c:spPr>
            <a:solidFill>
              <a:srgbClr val="10B981"/>
            </a:solidFill>
            <a:ln w="31750" cap="flat">
              <a:solidFill>
                <a:srgbClr val="10B98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0B981"/>
              </a:solidFill>
              <a:ln w="9525" cap="flat">
                <a:solidFill>
                  <a:srgbClr val="10B98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Sheet1!$A$2:$A$26</c:f>
              <c:multiLvlStrCache>
                <c:ptCount val="25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</c:lvl>
              </c:multiLvlStrCache>
            </c:multiLvlStrRef>
          </c:cat>
          <c:val>
            <c:numRef>
              <c:f>Sheet1!$C$2:$C$26</c:f>
              <c:numCache>
                <c:formatCode>General</c:formatCode>
                <c:ptCount val="25"/>
                <c:pt idx="0">
                  <c:v>302</c:v>
                </c:pt>
                <c:pt idx="1">
                  <c:v>335</c:v>
                </c:pt>
                <c:pt idx="2">
                  <c:v>353</c:v>
                </c:pt>
                <c:pt idx="3">
                  <c:v>330</c:v>
                </c:pt>
                <c:pt idx="4">
                  <c:v>310</c:v>
                </c:pt>
                <c:pt idx="5">
                  <c:v>269</c:v>
                </c:pt>
                <c:pt idx="6">
                  <c:v>269</c:v>
                </c:pt>
                <c:pt idx="7">
                  <c:v>270</c:v>
                </c:pt>
                <c:pt idx="8">
                  <c:v>290</c:v>
                </c:pt>
                <c:pt idx="9">
                  <c:v>285</c:v>
                </c:pt>
                <c:pt idx="10">
                  <c:v>295</c:v>
                </c:pt>
                <c:pt idx="11">
                  <c:v>315</c:v>
                </c:pt>
                <c:pt idx="12">
                  <c:v>322</c:v>
                </c:pt>
                <c:pt idx="13">
                  <c:v>330</c:v>
                </c:pt>
                <c:pt idx="14">
                  <c:v>320</c:v>
                </c:pt>
                <c:pt idx="15">
                  <c:v>325</c:v>
                </c:pt>
                <c:pt idx="16">
                  <c:v>310</c:v>
                </c:pt>
                <c:pt idx="17">
                  <c:v>305</c:v>
                </c:pt>
                <c:pt idx="18">
                  <c:v>300</c:v>
                </c:pt>
                <c:pt idx="19">
                  <c:v>297</c:v>
                </c:pt>
                <c:pt idx="20">
                  <c:v>340</c:v>
                </c:pt>
                <c:pt idx="21">
                  <c:v>338</c:v>
                </c:pt>
                <c:pt idx="22">
                  <c:v>327</c:v>
                </c:pt>
                <c:pt idx="23">
                  <c:v>275</c:v>
                </c:pt>
                <c:pt idx="24">
                  <c:v>345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High Alps (&gt;2500m)</c:v>
                </c:pt>
              </c:strCache>
            </c:strRef>
          </c:tx>
          <c:spPr>
            <a:solidFill>
              <a:srgbClr val="8B5CF6"/>
            </a:solidFill>
            <a:ln w="31750" cap="flat">
              <a:solidFill>
                <a:srgbClr val="8B5CF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B5CF6"/>
              </a:solidFill>
              <a:ln w="9525" cap="flat">
                <a:solidFill>
                  <a:srgbClr val="8B5CF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Sheet1!$A$2:$A$26</c:f>
              <c:multiLvlStrCache>
                <c:ptCount val="25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</c:lvl>
              </c:multiLvlStrCache>
            </c:multiLvlStrRef>
          </c:cat>
          <c:val>
            <c:numRef>
              <c:f>Sheet1!$D$2:$D$26</c:f>
              <c:numCache>
                <c:formatCode>General</c:formatCode>
                <c:ptCount val="25"/>
                <c:pt idx="0">
                  <c:v>364</c:v>
                </c:pt>
                <c:pt idx="1">
                  <c:v>364</c:v>
                </c:pt>
                <c:pt idx="2">
                  <c:v>365</c:v>
                </c:pt>
                <c:pt idx="3">
                  <c:v>365</c:v>
                </c:pt>
                <c:pt idx="4">
                  <c:v>365</c:v>
                </c:pt>
                <c:pt idx="5">
                  <c:v>365</c:v>
                </c:pt>
                <c:pt idx="6">
                  <c:v>365</c:v>
                </c:pt>
                <c:pt idx="7">
                  <c:v>365</c:v>
                </c:pt>
                <c:pt idx="8">
                  <c:v>365</c:v>
                </c:pt>
                <c:pt idx="9">
                  <c:v>365</c:v>
                </c:pt>
                <c:pt idx="10">
                  <c:v>365</c:v>
                </c:pt>
                <c:pt idx="11">
                  <c:v>365</c:v>
                </c:pt>
                <c:pt idx="12">
                  <c:v>366</c:v>
                </c:pt>
                <c:pt idx="13">
                  <c:v>365</c:v>
                </c:pt>
                <c:pt idx="14">
                  <c:v>366</c:v>
                </c:pt>
                <c:pt idx="15">
                  <c:v>365</c:v>
                </c:pt>
                <c:pt idx="16">
                  <c:v>365</c:v>
                </c:pt>
                <c:pt idx="17">
                  <c:v>365</c:v>
                </c:pt>
                <c:pt idx="18">
                  <c:v>365</c:v>
                </c:pt>
                <c:pt idx="19">
                  <c:v>364</c:v>
                </c:pt>
                <c:pt idx="20">
                  <c:v>366</c:v>
                </c:pt>
                <c:pt idx="21">
                  <c:v>365</c:v>
                </c:pt>
                <c:pt idx="22">
                  <c:v>366</c:v>
                </c:pt>
                <c:pt idx="23">
                  <c:v>365</c:v>
                </c:pt>
                <c:pt idx="24">
                  <c:v>366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334155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0"/>
          <c:min val="50"/>
        </c:scaling>
        <c:delete val="0"/>
        <c:axPos val="l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334155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242B4A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 (2000-2024)</c:v>
                </c:pt>
              </c:strCache>
            </c:strRef>
          </c:tx>
          <c:spPr>
            <a:solidFill>
              <a:srgbClr val="FFFFFF"/>
            </a:solidFill>
            <a:ln w="25400" cap="flat">
              <a:solidFill>
                <a:srgbClr val="FFFFFF"/>
              </a:solidFill>
              <a:prstDash val="solid,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FFFF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Sheet1!$A$2:$A$52</c:f>
              <c:multiLvlStrCache>
                <c:ptCount val="51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  <c:pt idx="26">
                    <c:v>2026</c:v>
                  </c:pt>
                  <c:pt idx="27">
                    <c:v>2027</c:v>
                  </c:pt>
                  <c:pt idx="28">
                    <c:v>2028</c:v>
                  </c:pt>
                  <c:pt idx="29">
                    <c:v>2029</c:v>
                  </c:pt>
                  <c:pt idx="30">
                    <c:v>2030</c:v>
                  </c:pt>
                  <c:pt idx="31">
                    <c:v>2031</c:v>
                  </c:pt>
                  <c:pt idx="32">
                    <c:v>2032</c:v>
                  </c:pt>
                  <c:pt idx="33">
                    <c:v>2033</c:v>
                  </c:pt>
                  <c:pt idx="34">
                    <c:v>2034</c:v>
                  </c:pt>
                  <c:pt idx="35">
                    <c:v>2035</c:v>
                  </c:pt>
                  <c:pt idx="36">
                    <c:v>2036</c:v>
                  </c:pt>
                  <c:pt idx="37">
                    <c:v>2037</c:v>
                  </c:pt>
                  <c:pt idx="38">
                    <c:v>2038</c:v>
                  </c:pt>
                  <c:pt idx="39">
                    <c:v>2039</c:v>
                  </c:pt>
                  <c:pt idx="40">
                    <c:v>2040</c:v>
                  </c:pt>
                  <c:pt idx="41">
                    <c:v>2041</c:v>
                  </c:pt>
                  <c:pt idx="42">
                    <c:v>2042</c:v>
                  </c:pt>
                  <c:pt idx="43">
                    <c:v>2043</c:v>
                  </c:pt>
                  <c:pt idx="44">
                    <c:v>2044</c:v>
                  </c:pt>
                  <c:pt idx="45">
                    <c:v>2045</c:v>
                  </c:pt>
                  <c:pt idx="46">
                    <c:v>2046</c:v>
                  </c:pt>
                  <c:pt idx="47">
                    <c:v>2047</c:v>
                  </c:pt>
                  <c:pt idx="48">
                    <c:v>2048</c:v>
                  </c:pt>
                  <c:pt idx="49">
                    <c:v>2049</c:v>
                  </c:pt>
                  <c:pt idx="50">
                    <c:v>2050</c:v>
                  </c:pt>
                </c:lvl>
              </c:multiLvlStrCache>
            </c:multiLvlStrRef>
          </c:cat>
          <c:val>
            <c:numRef>
              <c:f>Sheet1!$B$2:$B$52</c:f>
              <c:numCache>
                <c:formatCode>General</c:formatCode>
                <c:ptCount val="51"/>
                <c:pt idx="0">
                  <c:v>153</c:v>
                </c:pt>
                <c:pt idx="1">
                  <c:v>160</c:v>
                </c:pt>
                <c:pt idx="2">
                  <c:v>142</c:v>
                </c:pt>
                <c:pt idx="3">
                  <c:v>164</c:v>
                </c:pt>
                <c:pt idx="4">
                  <c:v>176</c:v>
                </c:pt>
                <c:pt idx="5">
                  <c:v>142</c:v>
                </c:pt>
                <c:pt idx="6">
                  <c:v>153</c:v>
                </c:pt>
                <c:pt idx="7">
                  <c:v>168</c:v>
                </c:pt>
                <c:pt idx="8">
                  <c:v>152</c:v>
                </c:pt>
                <c:pt idx="9">
                  <c:v>134</c:v>
                </c:pt>
                <c:pt idx="10">
                  <c:v>190</c:v>
                </c:pt>
                <c:pt idx="11">
                  <c:v>115</c:v>
                </c:pt>
                <c:pt idx="12">
                  <c:v>175</c:v>
                </c:pt>
                <c:pt idx="13">
                  <c:v>170</c:v>
                </c:pt>
                <c:pt idx="14">
                  <c:v>180</c:v>
                </c:pt>
                <c:pt idx="15">
                  <c:v>135</c:v>
                </c:pt>
                <c:pt idx="16">
                  <c:v>131</c:v>
                </c:pt>
                <c:pt idx="17">
                  <c:v>133</c:v>
                </c:pt>
                <c:pt idx="18">
                  <c:v>122</c:v>
                </c:pt>
                <c:pt idx="19">
                  <c:v>124</c:v>
                </c:pt>
                <c:pt idx="20">
                  <c:v>157</c:v>
                </c:pt>
                <c:pt idx="21">
                  <c:v>148</c:v>
                </c:pt>
                <c:pt idx="22">
                  <c:v>111</c:v>
                </c:pt>
                <c:pt idx="23">
                  <c:v>113</c:v>
                </c:pt>
                <c:pt idx="24">
                  <c:v>108</c:v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Current Trend</c:v>
                </c:pt>
              </c:strCache>
            </c:strRef>
          </c:tx>
          <c:spPr>
            <a:solidFill>
              <a:srgbClr val="3B82F6"/>
            </a:solidFill>
            <a:ln w="25400" cap="flat">
              <a:solidFill>
                <a:srgbClr val="3B82F6"/>
              </a:solidFill>
              <a:prstDash val="solid,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B82F6"/>
              </a:solidFill>
              <a:ln w="9525" cap="flat">
                <a:solidFill>
                  <a:srgbClr val="3B82F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Sheet1!$A$2:$A$52</c:f>
              <c:multiLvlStrCache>
                <c:ptCount val="51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  <c:pt idx="26">
                    <c:v>2026</c:v>
                  </c:pt>
                  <c:pt idx="27">
                    <c:v>2027</c:v>
                  </c:pt>
                  <c:pt idx="28">
                    <c:v>2028</c:v>
                  </c:pt>
                  <c:pt idx="29">
                    <c:v>2029</c:v>
                  </c:pt>
                  <c:pt idx="30">
                    <c:v>2030</c:v>
                  </c:pt>
                  <c:pt idx="31">
                    <c:v>2031</c:v>
                  </c:pt>
                  <c:pt idx="32">
                    <c:v>2032</c:v>
                  </c:pt>
                  <c:pt idx="33">
                    <c:v>2033</c:v>
                  </c:pt>
                  <c:pt idx="34">
                    <c:v>2034</c:v>
                  </c:pt>
                  <c:pt idx="35">
                    <c:v>2035</c:v>
                  </c:pt>
                  <c:pt idx="36">
                    <c:v>2036</c:v>
                  </c:pt>
                  <c:pt idx="37">
                    <c:v>2037</c:v>
                  </c:pt>
                  <c:pt idx="38">
                    <c:v>2038</c:v>
                  </c:pt>
                  <c:pt idx="39">
                    <c:v>2039</c:v>
                  </c:pt>
                  <c:pt idx="40">
                    <c:v>2040</c:v>
                  </c:pt>
                  <c:pt idx="41">
                    <c:v>2041</c:v>
                  </c:pt>
                  <c:pt idx="42">
                    <c:v>2042</c:v>
                  </c:pt>
                  <c:pt idx="43">
                    <c:v>2043</c:v>
                  </c:pt>
                  <c:pt idx="44">
                    <c:v>2044</c:v>
                  </c:pt>
                  <c:pt idx="45">
                    <c:v>2045</c:v>
                  </c:pt>
                  <c:pt idx="46">
                    <c:v>2046</c:v>
                  </c:pt>
                  <c:pt idx="47">
                    <c:v>2047</c:v>
                  </c:pt>
                  <c:pt idx="48">
                    <c:v>2048</c:v>
                  </c:pt>
                  <c:pt idx="49">
                    <c:v>2049</c:v>
                  </c:pt>
                  <c:pt idx="50">
                    <c:v>2050</c:v>
                  </c:pt>
                </c:lvl>
              </c:multiLvlStrCache>
            </c:multiLvlStrRef>
          </c:cat>
          <c:val>
            <c:numRef>
              <c:f>Sheet1!$C$2:$C$52</c:f>
              <c:numCache>
                <c:formatCode>General</c:formatCode>
                <c:ptCount val="51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>108</c:v>
                </c:pt>
                <c:pt idx="25">
                  <c:v>106.2</c:v>
                </c:pt>
                <c:pt idx="26">
                  <c:v>104.3</c:v>
                </c:pt>
                <c:pt idx="27">
                  <c:v>102.4</c:v>
                </c:pt>
                <c:pt idx="28">
                  <c:v>100.6</c:v>
                </c:pt>
                <c:pt idx="29">
                  <c:v>98.8</c:v>
                </c:pt>
                <c:pt idx="30">
                  <c:v>97.2</c:v>
                </c:pt>
                <c:pt idx="31">
                  <c:v>95.6</c:v>
                </c:pt>
                <c:pt idx="32">
                  <c:v>94.1</c:v>
                </c:pt>
                <c:pt idx="33">
                  <c:v>92.6</c:v>
                </c:pt>
                <c:pt idx="34">
                  <c:v>91.2</c:v>
                </c:pt>
                <c:pt idx="35">
                  <c:v>89.9</c:v>
                </c:pt>
                <c:pt idx="36">
                  <c:v>88.6</c:v>
                </c:pt>
                <c:pt idx="37">
                  <c:v>87.4</c:v>
                </c:pt>
                <c:pt idx="38">
                  <c:v>86.2</c:v>
                </c:pt>
                <c:pt idx="39">
                  <c:v>85.1</c:v>
                </c:pt>
                <c:pt idx="40">
                  <c:v>84</c:v>
                </c:pt>
                <c:pt idx="41">
                  <c:v>83</c:v>
                </c:pt>
                <c:pt idx="42">
                  <c:v>82</c:v>
                </c:pt>
                <c:pt idx="43">
                  <c:v>81.1</c:v>
                </c:pt>
                <c:pt idx="44">
                  <c:v>80.2</c:v>
                </c:pt>
                <c:pt idx="45">
                  <c:v>79.3</c:v>
                </c:pt>
                <c:pt idx="46">
                  <c:v>78.5</c:v>
                </c:pt>
                <c:pt idx="47">
                  <c:v>77.7</c:v>
                </c:pt>
                <c:pt idx="48">
                  <c:v>77</c:v>
                </c:pt>
                <c:pt idx="49">
                  <c:v>76.2</c:v>
                </c:pt>
                <c:pt idx="50">
                  <c:v>75.5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Accelerated (RCP 8.5)</c:v>
                </c:pt>
              </c:strCache>
            </c:strRef>
          </c:tx>
          <c:spPr>
            <a:solidFill>
              <a:srgbClr val="EF4444"/>
            </a:solidFill>
            <a:ln w="25400" cap="flat">
              <a:solidFill>
                <a:srgbClr val="EF4444"/>
              </a:solidFill>
              <a:prstDash val="solid,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F4444"/>
              </a:solidFill>
              <a:ln w="9525" cap="flat">
                <a:solidFill>
                  <a:srgbClr val="EF444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Sheet1!$A$2:$A$52</c:f>
              <c:multiLvlStrCache>
                <c:ptCount val="51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  <c:pt idx="26">
                    <c:v>2026</c:v>
                  </c:pt>
                  <c:pt idx="27">
                    <c:v>2027</c:v>
                  </c:pt>
                  <c:pt idx="28">
                    <c:v>2028</c:v>
                  </c:pt>
                  <c:pt idx="29">
                    <c:v>2029</c:v>
                  </c:pt>
                  <c:pt idx="30">
                    <c:v>2030</c:v>
                  </c:pt>
                  <c:pt idx="31">
                    <c:v>2031</c:v>
                  </c:pt>
                  <c:pt idx="32">
                    <c:v>2032</c:v>
                  </c:pt>
                  <c:pt idx="33">
                    <c:v>2033</c:v>
                  </c:pt>
                  <c:pt idx="34">
                    <c:v>2034</c:v>
                  </c:pt>
                  <c:pt idx="35">
                    <c:v>2035</c:v>
                  </c:pt>
                  <c:pt idx="36">
                    <c:v>2036</c:v>
                  </c:pt>
                  <c:pt idx="37">
                    <c:v>2037</c:v>
                  </c:pt>
                  <c:pt idx="38">
                    <c:v>2038</c:v>
                  </c:pt>
                  <c:pt idx="39">
                    <c:v>2039</c:v>
                  </c:pt>
                  <c:pt idx="40">
                    <c:v>2040</c:v>
                  </c:pt>
                  <c:pt idx="41">
                    <c:v>2041</c:v>
                  </c:pt>
                  <c:pt idx="42">
                    <c:v>2042</c:v>
                  </c:pt>
                  <c:pt idx="43">
                    <c:v>2043</c:v>
                  </c:pt>
                  <c:pt idx="44">
                    <c:v>2044</c:v>
                  </c:pt>
                  <c:pt idx="45">
                    <c:v>2045</c:v>
                  </c:pt>
                  <c:pt idx="46">
                    <c:v>2046</c:v>
                  </c:pt>
                  <c:pt idx="47">
                    <c:v>2047</c:v>
                  </c:pt>
                  <c:pt idx="48">
                    <c:v>2048</c:v>
                  </c:pt>
                  <c:pt idx="49">
                    <c:v>2049</c:v>
                  </c:pt>
                  <c:pt idx="50">
                    <c:v>2050</c:v>
                  </c:pt>
                </c:lvl>
              </c:multiLvlStrCache>
            </c:multiLvlStrRef>
          </c:cat>
          <c:val>
            <c:numRef>
              <c:f>Sheet1!$D$2:$D$52</c:f>
              <c:numCache>
                <c:formatCode>General</c:formatCode>
                <c:ptCount val="51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>108</c:v>
                </c:pt>
                <c:pt idx="25">
                  <c:v>105.2</c:v>
                </c:pt>
                <c:pt idx="26">
                  <c:v>102.5</c:v>
                </c:pt>
                <c:pt idx="27">
                  <c:v>99.9</c:v>
                </c:pt>
                <c:pt idx="28">
                  <c:v>97.4</c:v>
                </c:pt>
                <c:pt idx="29">
                  <c:v>95</c:v>
                </c:pt>
                <c:pt idx="30">
                  <c:v>92.7</c:v>
                </c:pt>
                <c:pt idx="31">
                  <c:v>90.5</c:v>
                </c:pt>
                <c:pt idx="32">
                  <c:v>88.4</c:v>
                </c:pt>
                <c:pt idx="33">
                  <c:v>86.4</c:v>
                </c:pt>
                <c:pt idx="34">
                  <c:v>84.5</c:v>
                </c:pt>
                <c:pt idx="35">
                  <c:v>80.2</c:v>
                </c:pt>
                <c:pt idx="36">
                  <c:v>78.6</c:v>
                </c:pt>
                <c:pt idx="37">
                  <c:v>77</c:v>
                </c:pt>
                <c:pt idx="38">
                  <c:v>75.5</c:v>
                </c:pt>
                <c:pt idx="39">
                  <c:v>74.1</c:v>
                </c:pt>
                <c:pt idx="40">
                  <c:v>72.8</c:v>
                </c:pt>
                <c:pt idx="41">
                  <c:v>71.5</c:v>
                </c:pt>
                <c:pt idx="42">
                  <c:v>70.3</c:v>
                </c:pt>
                <c:pt idx="43">
                  <c:v>69.2</c:v>
                </c:pt>
                <c:pt idx="44">
                  <c:v>68.1</c:v>
                </c:pt>
                <c:pt idx="45">
                  <c:v>67.1</c:v>
                </c:pt>
                <c:pt idx="46">
                  <c:v>66.1</c:v>
                </c:pt>
                <c:pt idx="47">
                  <c:v>65.2</c:v>
                </c:pt>
                <c:pt idx="48">
                  <c:v>64.4</c:v>
                </c:pt>
                <c:pt idx="49">
                  <c:v>63.6</c:v>
                </c:pt>
                <c:pt idx="50">
                  <c:v>57.4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Paris-Aligned (RCP 2.6)</c:v>
                </c:pt>
              </c:strCache>
            </c:strRef>
          </c:tx>
          <c:spPr>
            <a:solidFill>
              <a:srgbClr val="10B981"/>
            </a:solidFill>
            <a:ln w="25400" cap="flat">
              <a:solidFill>
                <a:srgbClr val="10B981"/>
              </a:solidFill>
              <a:prstDash val="solid,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0B981"/>
              </a:solidFill>
              <a:ln w="9525" cap="flat">
                <a:solidFill>
                  <a:srgbClr val="10B98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Sheet1!$A$2:$A$52</c:f>
              <c:multiLvlStrCache>
                <c:ptCount val="51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  <c:pt idx="26">
                    <c:v>2026</c:v>
                  </c:pt>
                  <c:pt idx="27">
                    <c:v>2027</c:v>
                  </c:pt>
                  <c:pt idx="28">
                    <c:v>2028</c:v>
                  </c:pt>
                  <c:pt idx="29">
                    <c:v>2029</c:v>
                  </c:pt>
                  <c:pt idx="30">
                    <c:v>2030</c:v>
                  </c:pt>
                  <c:pt idx="31">
                    <c:v>2031</c:v>
                  </c:pt>
                  <c:pt idx="32">
                    <c:v>2032</c:v>
                  </c:pt>
                  <c:pt idx="33">
                    <c:v>2033</c:v>
                  </c:pt>
                  <c:pt idx="34">
                    <c:v>2034</c:v>
                  </c:pt>
                  <c:pt idx="35">
                    <c:v>2035</c:v>
                  </c:pt>
                  <c:pt idx="36">
                    <c:v>2036</c:v>
                  </c:pt>
                  <c:pt idx="37">
                    <c:v>2037</c:v>
                  </c:pt>
                  <c:pt idx="38">
                    <c:v>2038</c:v>
                  </c:pt>
                  <c:pt idx="39">
                    <c:v>2039</c:v>
                  </c:pt>
                  <c:pt idx="40">
                    <c:v>2040</c:v>
                  </c:pt>
                  <c:pt idx="41">
                    <c:v>2041</c:v>
                  </c:pt>
                  <c:pt idx="42">
                    <c:v>2042</c:v>
                  </c:pt>
                  <c:pt idx="43">
                    <c:v>2043</c:v>
                  </c:pt>
                  <c:pt idx="44">
                    <c:v>2044</c:v>
                  </c:pt>
                  <c:pt idx="45">
                    <c:v>2045</c:v>
                  </c:pt>
                  <c:pt idx="46">
                    <c:v>2046</c:v>
                  </c:pt>
                  <c:pt idx="47">
                    <c:v>2047</c:v>
                  </c:pt>
                  <c:pt idx="48">
                    <c:v>2048</c:v>
                  </c:pt>
                  <c:pt idx="49">
                    <c:v>2049</c:v>
                  </c:pt>
                  <c:pt idx="50">
                    <c:v>2050</c:v>
                  </c:pt>
                </c:lvl>
              </c:multiLvlStrCache>
            </c:multiLvlStrRef>
          </c:cat>
          <c:val>
            <c:numRef>
              <c:f>Sheet1!$E$2:$E$52</c:f>
              <c:numCache>
                <c:formatCode>General</c:formatCode>
                <c:ptCount val="51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>108</c:v>
                </c:pt>
                <c:pt idx="25">
                  <c:v>107.1</c:v>
                </c:pt>
                <c:pt idx="26">
                  <c:v>106</c:v>
                </c:pt>
                <c:pt idx="27">
                  <c:v>105</c:v>
                </c:pt>
                <c:pt idx="28">
                  <c:v>104</c:v>
                </c:pt>
                <c:pt idx="29">
                  <c:v>103</c:v>
                </c:pt>
                <c:pt idx="30">
                  <c:v>102.1</c:v>
                </c:pt>
                <c:pt idx="31">
                  <c:v>101.2</c:v>
                </c:pt>
                <c:pt idx="32">
                  <c:v>100.4</c:v>
                </c:pt>
                <c:pt idx="33">
                  <c:v>99.6</c:v>
                </c:pt>
                <c:pt idx="34">
                  <c:v>98.8</c:v>
                </c:pt>
                <c:pt idx="35">
                  <c:v>97.1</c:v>
                </c:pt>
                <c:pt idx="36">
                  <c:v>96.4</c:v>
                </c:pt>
                <c:pt idx="37">
                  <c:v>95.8</c:v>
                </c:pt>
                <c:pt idx="38">
                  <c:v>95.2</c:v>
                </c:pt>
                <c:pt idx="39">
                  <c:v>94.6</c:v>
                </c:pt>
                <c:pt idx="40">
                  <c:v>94.1</c:v>
                </c:pt>
                <c:pt idx="41">
                  <c:v>93.6</c:v>
                </c:pt>
                <c:pt idx="42">
                  <c:v>93.1</c:v>
                </c:pt>
                <c:pt idx="43">
                  <c:v>92.7</c:v>
                </c:pt>
                <c:pt idx="44">
                  <c:v>92.3</c:v>
                </c:pt>
                <c:pt idx="45">
                  <c:v>91.9</c:v>
                </c:pt>
                <c:pt idx="46">
                  <c:v>91.5</c:v>
                </c:pt>
                <c:pt idx="47">
                  <c:v>91.2</c:v>
                </c:pt>
                <c:pt idx="48">
                  <c:v>90.9</c:v>
                </c:pt>
                <c:pt idx="49">
                  <c:v>90.6</c:v>
                </c:pt>
                <c:pt idx="50">
                  <c:v>88.2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334155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0"/>
          <c:min val="50"/>
        </c:scaling>
        <c:delete val="0"/>
        <c:axPos val="l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334155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242B4A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01200" y="182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#3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10332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SnowLens: Satellite Lens</a:t>
            </a:r>
            <a:endParaRPr lang="en-US" sz="4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Alpine Snow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371600" y="3383280"/>
            <a:ext cx="941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25 years of ERA5 satellite data to fact-check climate disinformation in the European Alps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5669280"/>
            <a:ext cx="3474720" cy="777240"/>
          </a:xfrm>
          <a:prstGeom prst="rect">
            <a:avLst>
              <a:gd name="adj" fmla="val 5882"/>
            </a:avLst>
          </a:prstGeom>
          <a:solidFill>
            <a:srgbClr val="242B4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66928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SpaceHACK for Sustainability 2026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06240" y="5669280"/>
            <a:ext cx="3749040" cy="777240"/>
          </a:xfrm>
          <a:prstGeom prst="rect">
            <a:avLst>
              <a:gd name="adj" fmla="val 5882"/>
            </a:avLst>
          </a:prstGeom>
          <a:solidFill>
            <a:srgbClr val="242B4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0" y="566928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 Samudyata, Chinmayi, Shambhavi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0" y="5669280"/>
            <a:ext cx="3474720" cy="777240"/>
          </a:xfrm>
          <a:prstGeom prst="rect">
            <a:avLst>
              <a:gd name="adj" fmla="val 5882"/>
            </a:avLst>
          </a:prstGeom>
          <a:solidFill>
            <a:srgbClr val="242B4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0" y="566928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Track: AIB | Institution: ASU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Change and the Alpine Information Battle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Alpine Information Battle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3474720" cy="1188720"/>
          </a:xfrm>
          <a:prstGeom prst="rect">
            <a:avLst>
              <a:gd name="adj" fmla="val 3846"/>
            </a:avLst>
          </a:prstGeom>
          <a:solidFill>
            <a:srgbClr val="3D1C1C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96012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"Snow levels in the Alps have remained stable over the past decades"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206240" y="960120"/>
            <a:ext cx="3474720" cy="1188720"/>
          </a:xfrm>
          <a:prstGeom prst="rect">
            <a:avLst>
              <a:gd name="adj" fmla="val 3846"/>
            </a:avLst>
          </a:prstGeom>
          <a:solidFill>
            <a:srgbClr val="3D1C1C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43400" y="96012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winter had record snowfall, so climate change is not real"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955280" y="960120"/>
            <a:ext cx="3474720" cy="1188720"/>
          </a:xfrm>
          <a:prstGeom prst="rect">
            <a:avLst>
              <a:gd name="adj" fmla="val 3846"/>
            </a:avLst>
          </a:prstGeom>
          <a:solidFill>
            <a:srgbClr val="3D1C1C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92440" y="96012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"Glacier retreat is a natural cycle, not caused by warming"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10789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claims spread online unchallenged — journalists lack tools to verify them against real satellite data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170M+ people across Europe depend on Alpine snowmelt for drinking water, agriculture, and hydropower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Misinformation delays action on water security, infrastructure planning, and climate adaptation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AIB track asks: can Earth Observation data fight this information battle?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5029200"/>
            <a:ext cx="11247120" cy="777240"/>
          </a:xfrm>
          <a:prstGeom prst="rect">
            <a:avLst>
              <a:gd name="adj" fmla="val 5882"/>
            </a:avLst>
          </a:prstGeom>
          <a:solidFill>
            <a:srgbClr val="1E2D50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5029200"/>
            <a:ext cx="73152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502920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isn’t data availability — it’s data accessibility for non-scientists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Team &amp; Approach</a:t>
            </a:r>
            <a:endParaRPr lang="en-US" sz="3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5943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640080"/>
                <a:gridCol w="2011680"/>
                <a:gridCol w="20116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5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5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5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56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Samudyata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B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B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Computer Engineering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B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Pipeline &amp; Backend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B4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Chinmayi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 Analytics &amp; Engg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Visualizations in Frontend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Shambhavi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B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B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 Analytics &amp; Engg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B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UI/UX &amp; Page Design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B4A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132320" y="914400"/>
            <a:ext cx="4389120" cy="1097280"/>
          </a:xfrm>
          <a:prstGeom prst="rect">
            <a:avLst>
              <a:gd name="adj" fmla="val 4167"/>
            </a:avLst>
          </a:prstGeom>
          <a:solidFill>
            <a:srgbClr val="242B4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132320" y="914400"/>
            <a:ext cx="64008" cy="10972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0" y="91440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ERA5 Satellite Data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stations, 3 elevation bands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years (2000–2024)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144000" y="20116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132320" y="2331720"/>
            <a:ext cx="4389120" cy="1097280"/>
          </a:xfrm>
          <a:prstGeom prst="rect">
            <a:avLst>
              <a:gd name="adj" fmla="val 4167"/>
            </a:avLst>
          </a:prstGeom>
          <a:solidFill>
            <a:srgbClr val="242B4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132320" y="2331720"/>
            <a:ext cx="64008" cy="10972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0" y="233172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Data Pipeline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Mann-Kendall, Pettitt,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Pearson, ARIMA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144000" y="34290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132320" y="3749040"/>
            <a:ext cx="4389120" cy="1097280"/>
          </a:xfrm>
          <a:prstGeom prst="rect">
            <a:avLst>
              <a:gd name="adj" fmla="val 4167"/>
            </a:avLst>
          </a:prstGeom>
          <a:solidFill>
            <a:srgbClr val="242B4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132320" y="3749040"/>
            <a:ext cx="64008" cy="10972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1"/>
          <p:cNvSpPr/>
          <p:nvPr/>
        </p:nvSpPr>
        <p:spPr>
          <a:xfrm>
            <a:off x="7315200" y="374904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Web App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Fact Checker,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visualizations, Projections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65760" y="5989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ECMWF ERA5 reanalysis via Open-Meteo Historical Weather API | 15 stations across 3 elevation bands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Citation: Hersbach et al. (2020), Q.J.R. Meteorol. Soc., DOI: 10.1002/qj.3803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Found — At a Glance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2651760" cy="1508760"/>
          </a:xfrm>
          <a:prstGeom prst="rect">
            <a:avLst>
              <a:gd name="adj" fmla="val 3030"/>
            </a:avLst>
          </a:prstGeom>
          <a:solidFill>
            <a:srgbClr val="242B4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6868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-21.6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days/decade snow loss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low elevations (p = 0.005)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46120" y="868680"/>
            <a:ext cx="2651760" cy="1508760"/>
          </a:xfrm>
          <a:prstGeom prst="rect">
            <a:avLst>
              <a:gd name="adj" fmla="val 3030"/>
            </a:avLst>
          </a:prstGeom>
          <a:solidFill>
            <a:srgbClr val="242B4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46120" y="86868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69%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3337560" y="17373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snow variation explained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temperature (R = -0.828)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126480" y="868680"/>
            <a:ext cx="2651760" cy="1508760"/>
          </a:xfrm>
          <a:prstGeom prst="rect">
            <a:avLst>
              <a:gd name="adj" fmla="val 3030"/>
            </a:avLst>
          </a:prstGeom>
          <a:solidFill>
            <a:srgbClr val="242B4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0" y="86868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2013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6217920" y="17373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decline accelerated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(Pettitt change point, p = 0.007)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9006840" y="868680"/>
            <a:ext cx="2651760" cy="1508760"/>
          </a:xfrm>
          <a:prstGeom prst="rect">
            <a:avLst>
              <a:gd name="adj" fmla="val 3030"/>
            </a:avLst>
          </a:prstGeom>
          <a:solidFill>
            <a:srgbClr val="242B4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06840" y="86868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76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9098280" y="17373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snow days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2050 at low elevations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5760" y="2560320"/>
            <a:ext cx="11338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Low-elevation Alpine snow cover is declining at 21.6 days per decade — statistically highly significant. The decline accelerated after 2013, with mean snow cover dropping from 162 to 127 days. Temperature is the primary driver (R = -0.828). Mid and high elevations remain stable, confirming an elevation-dependent pattern.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" y="361188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Opportunities for Further Exploration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Copernicus CDS for gridded satellite imagery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NLP-powered claim matching for free-text input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Pyrenees, Carpathians, Himalayas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035040" y="361188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Lessons Learned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Started with CDS API — hit rate limits, pivoted to Open-Meteo (same ERA5 data, no key restrictions)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 required careful tuning for 25-year series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Alps showing 365 days/year looked like a bug — confirmed as real year-round snow above 2500m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 Years of Alpine Snow in One View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1247120" cy="3200400"/>
          </a:xfrm>
          <a:prstGeom prst="rect">
            <a:avLst>
              <a:gd name="adj" fmla="val 1429"/>
            </a:avLst>
          </a:prstGeom>
          <a:solidFill>
            <a:srgbClr val="1E2544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112471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3D Interactive Surface Plot</a:t>
            </a:r>
            <a:endParaRPr lang="en-US" sz="22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
</a:t>
            </a:r>
            <a:endParaRPr lang="en-US" sz="22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(2000–2024)  ×  Month (Jan–Dec)  ×  Snow Water Equivalent</a:t>
            </a:r>
            <a:endParaRPr lang="en-US" sz="22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2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Plotly.js from real monthly snowfall data across 15 ERA5 Alpine stations.</a:t>
            </a:r>
            <a:endParaRPr lang="en-US" sz="2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drag to rotate and scroll to zoom.</a:t>
            </a:r>
            <a:endParaRPr lang="en-US" sz="22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
</a:t>
            </a:r>
            <a:endParaRPr lang="en-US" sz="22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[See live: alpineverify.vercel.app/trends]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4343400"/>
            <a:ext cx="11247120" cy="822960"/>
          </a:xfrm>
          <a:prstGeom prst="rect">
            <a:avLst>
              <a:gd name="adj" fmla="val 5556"/>
            </a:avLst>
          </a:prstGeom>
          <a:solidFill>
            <a:srgbClr val="1E2D50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343400"/>
            <a:ext cx="64008" cy="8229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3434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Winter peaks (yellow/green) are visibly lower in recent years — the surface flattens toward 2024, showing declining snowfall across the Alpine region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ERA5 Reanalysis via Open-Meteo | 15 Alpine stations across 3 elevation bands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Elevation Tells the Whole Story</a:t>
            </a:r>
            <a:endParaRPr lang="en-US" sz="3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914400"/>
          <a:ext cx="1124712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89204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Alps (&lt;1500m): 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-21.6 days/decade (p = 0.005). Snow dropped from 162 to 127 days. Change point at 2013.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Alps (1500-2500m): 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+3.0 days/decade (p = 0.76). Not significant. High variability.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Alps (&gt;2500m): 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 days/decade (p = 0.22). Year-round snow at ~365 days. Completely stable.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57200" y="58978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 loss is concentrated where temperature crosses the freezing threshold. The higher you go, the safer the snow — but low elevations are where people live, farm, and ski.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Independent Tests, One Conclusion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3566160" cy="4937760"/>
          </a:xfrm>
          <a:prstGeom prst="rect">
            <a:avLst>
              <a:gd name="adj" fmla="val 1282"/>
            </a:avLst>
          </a:prstGeom>
          <a:solidFill>
            <a:srgbClr val="242B4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515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Mann-Kendall Trend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-21.6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days/decade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325880" y="3017520"/>
            <a:ext cx="1645920" cy="320040"/>
          </a:xfrm>
          <a:prstGeom prst="rect">
            <a:avLst>
              <a:gd name="adj" fmla="val 14286"/>
            </a:avLst>
          </a:prstGeom>
          <a:solidFill>
            <a:srgbClr val="1E2D50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3017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0.005449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52044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Non-parametric trend test — the gold standard for environmental time series. Confirms decline with 99.5% confidence this is not random noise.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06240" y="914400"/>
            <a:ext cx="3566160" cy="4937760"/>
          </a:xfrm>
          <a:prstGeom prst="rect">
            <a:avLst>
              <a:gd name="adj" fmla="val 1282"/>
            </a:avLst>
          </a:prstGeom>
          <a:solidFill>
            <a:srgbClr val="242B4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10515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Change Point (Pettitt)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297680" y="155448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2013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4297680" y="25603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year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166360" y="3017520"/>
            <a:ext cx="1645920" cy="320040"/>
          </a:xfrm>
          <a:prstGeom prst="rect">
            <a:avLst>
              <a:gd name="adj" fmla="val 14286"/>
            </a:avLst>
          </a:prstGeom>
          <a:solidFill>
            <a:srgbClr val="1E2D50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66360" y="3017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0.0068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89120" y="352044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snow cover: 161.9 days before 2013 vs 126.6 days after — a loss of 35 days in one decade.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46720" y="914400"/>
            <a:ext cx="3566160" cy="4937760"/>
          </a:xfrm>
          <a:prstGeom prst="rect">
            <a:avLst>
              <a:gd name="adj" fmla="val 1282"/>
            </a:avLst>
          </a:prstGeom>
          <a:solidFill>
            <a:srgbClr val="242B4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0" y="10515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 vs Snow Correlation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138160" y="155448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R² = 0.685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8138160" y="25603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69% explained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006840" y="3017520"/>
            <a:ext cx="1645920" cy="320040"/>
          </a:xfrm>
          <a:prstGeom prst="rect">
            <a:avLst>
              <a:gd name="adj" fmla="val 14286"/>
            </a:avLst>
          </a:prstGeom>
          <a:solidFill>
            <a:srgbClr val="1E2D50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06840" y="3017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-0.828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0" y="352044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inverse relationship. As Alpine temperatures rose ~1.5°C, snow declined proportionally. Temperature alone explains 69% of all snow cover variation.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Months Are Losing Snow?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1247120" cy="2926080"/>
          </a:xfrm>
          <a:prstGeom prst="rect">
            <a:avLst>
              <a:gd name="adj" fmla="val 1563"/>
            </a:avLst>
          </a:prstGeom>
          <a:solidFill>
            <a:srgbClr val="1E2544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112471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Seasonal Decomposition Heatmap</a:t>
            </a:r>
            <a:endParaRPr lang="en-US" sz="20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20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snow cover by year (2000–2024). Brighter blue = more snow, dark = less/no snow.</a:t>
            </a:r>
            <a:endParaRPr lang="en-US" sz="20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monthly snowfall averages from Low Alps ERA5 stations.</a:t>
            </a:r>
            <a:endParaRPr lang="en-US" sz="20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20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[See live: alpineverify.vercel.app/trends]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4023360"/>
            <a:ext cx="2651760" cy="914400"/>
          </a:xfrm>
          <a:prstGeom prst="rect">
            <a:avLst>
              <a:gd name="adj" fmla="val 5000"/>
            </a:avLst>
          </a:prstGeom>
          <a:solidFill>
            <a:srgbClr val="242B4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0233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❄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(Jun–Aug): no snow (expected)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91840" y="4023360"/>
            <a:ext cx="2651760" cy="914400"/>
          </a:xfrm>
          <a:prstGeom prst="rect">
            <a:avLst>
              <a:gd name="adj" fmla="val 5000"/>
            </a:avLst>
          </a:prstGeom>
          <a:solidFill>
            <a:srgbClr val="242B4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40233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</a:rPr>
              <a:t>⚠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May: spring snow ending earlier each decade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4023360"/>
            <a:ext cx="2651760" cy="914400"/>
          </a:xfrm>
          <a:prstGeom prst="rect">
            <a:avLst>
              <a:gd name="adj" fmla="val 5000"/>
            </a:avLst>
          </a:prstGeom>
          <a:solidFill>
            <a:srgbClr val="242B4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40233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</a:rPr>
              <a:t>⚠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Oct–Nov: fall snow arriving later — shoulder season shrinking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961120" y="4023360"/>
            <a:ext cx="2651760" cy="914400"/>
          </a:xfrm>
          <a:prstGeom prst="rect">
            <a:avLst>
              <a:gd name="adj" fmla="val 5000"/>
            </a:avLst>
          </a:prstGeom>
          <a:solidFill>
            <a:srgbClr val="242B4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52560" y="40233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F4444"/>
                </a:solidFill>
              </a:rPr>
              <a:t>↓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winter (Jan–Mar): showing less intensity recently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5166360"/>
            <a:ext cx="11247120" cy="685800"/>
          </a:xfrm>
          <a:prstGeom prst="rect">
            <a:avLst>
              <a:gd name="adj" fmla="val 6667"/>
            </a:avLst>
          </a:prstGeom>
          <a:solidFill>
            <a:srgbClr val="1E2D50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5166360"/>
            <a:ext cx="64008" cy="685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516636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Winter isn’t just getting shorter — it’s shrinking from both ends. Spring snow ends earlier, fall snow arrives later, compressing the viable season.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59893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Real monthly snowfall data from ERA5 stations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Future Holds</a:t>
            </a:r>
            <a:endParaRPr lang="en-US" sz="3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914400"/>
          <a:ext cx="6858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7589520" y="9144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Scenario Comparison (2050)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1417320"/>
          <a:ext cx="41148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097280"/>
                <a:gridCol w="11887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5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Snow Days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5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56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Trend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B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 days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B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-32 days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B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Accelerated (RCP 8.5)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 days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-51 days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4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Paris-Aligned (RCP 2.6)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B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 days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B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-20 days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B4A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4343400"/>
            <a:ext cx="11247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current trends, low-elevation Alps will have just 76 snow days by 2050 (~2.5 months). RCP 8.5 drops it to 57 days — under 2 months.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Alps converge toward ~312 days (mean reversion). High Alps stay at 366 (year-round). The divergence between bands widens.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400" dirty="0">
                <a:solidFill>
                  <a:srgbClr val="000000"/>
                </a:solidFill>
              </a:rPr>
              <a:t>
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Exponential decay model — floor + (S_last - floor) × exp(-r × t). Decay rate r calibrated to match observed slope (-2.11 days/yr). Floor = 60 days (core winter retains snow even with warming). Physically motivated: decline slows as snow approaches climatological minimum.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457200" y="59893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Exponential decay model on ERA5 data | scipy.optimize | Floor calibrated to core winter | IPCC scenario multipliers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 Any Claim. Get a Verdict.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3566160" cy="3474720"/>
          </a:xfrm>
          <a:prstGeom prst="rect">
            <a:avLst>
              <a:gd name="adj" fmla="val 1316"/>
            </a:avLst>
          </a:prstGeom>
          <a:solidFill>
            <a:srgbClr val="242B4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08760" y="1051560"/>
            <a:ext cx="1280160" cy="320040"/>
          </a:xfrm>
          <a:prstGeom prst="rect">
            <a:avLst>
              <a:gd name="adj" fmla="val 8571"/>
            </a:avLst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1508760" y="10515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REFUTED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"Snow levels in the Alps have remained stable"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99% confidence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based on Mann-Kendall p = 0.005 and -21.6 days/decade measured decline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06240" y="914400"/>
            <a:ext cx="3566160" cy="3474720"/>
          </a:xfrm>
          <a:prstGeom prst="rect">
            <a:avLst>
              <a:gd name="adj" fmla="val 1316"/>
            </a:avLst>
          </a:prstGeom>
          <a:solidFill>
            <a:srgbClr val="242B4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49240" y="1051560"/>
            <a:ext cx="1280160" cy="320040"/>
          </a:xfrm>
          <a:prstGeom prst="rect">
            <a:avLst>
              <a:gd name="adj" fmla="val 8571"/>
            </a:avLst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5349240" y="10515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89120" y="15087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"Snow decline is driven by rising temperatures"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89120" y="2377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69% confidence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389120" y="283464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based on Pearson R = -0.828, temperature explains 69% of snow variation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046720" y="914400"/>
            <a:ext cx="3566160" cy="3474720"/>
          </a:xfrm>
          <a:prstGeom prst="rect">
            <a:avLst>
              <a:gd name="adj" fmla="val 1316"/>
            </a:avLst>
          </a:prstGeom>
          <a:solidFill>
            <a:srgbClr val="242B4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89720" y="1051560"/>
            <a:ext cx="1280160" cy="320040"/>
          </a:xfrm>
          <a:prstGeom prst="rect">
            <a:avLst>
              <a:gd name="adj" fmla="val 8571"/>
            </a:avLst>
          </a:prstGeom>
          <a:solidFill>
            <a:srgbClr val="EF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9189720" y="10515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REFUTED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0" y="15087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winter had record snowfall so climate change is not real"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0" y="2377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97% confidence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229600" y="283464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weather events don’t negate 25-year climate trends (p = 0.005)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57200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SnowLens’s Fact Checker matches claims against real statistical results from our ERA5 analysis. Each verdict includes a confidence level from actual p-values, a plain-English explanation with specific numbers, and an evidence chart from real station data. No GIS expertise required — built for journalists, educators, and policymakers.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59893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live: alpineverify.vercel.app/fact-checker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Matters — The Real-World Impact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1247120" cy="868680"/>
          </a:xfrm>
          <a:prstGeom prst="rect">
            <a:avLst>
              <a:gd name="adj" fmla="val 5263"/>
            </a:avLst>
          </a:prstGeom>
          <a:solidFill>
            <a:srgbClr val="242B4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64008" cy="8686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914400"/>
            <a:ext cx="10835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Journalists &amp; Media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reporters can verify any claim about Alpine snow in seconds. SnowLens provides citation-ready charts with source attribution — p-values, station names, methodology. Ready to embed in articles.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01952"/>
            <a:ext cx="11247120" cy="868680"/>
          </a:xfrm>
          <a:prstGeom prst="rect">
            <a:avLst>
              <a:gd name="adj" fmla="val 5263"/>
            </a:avLst>
          </a:prstGeom>
          <a:solidFill>
            <a:srgbClr val="242B4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901952"/>
            <a:ext cx="64008" cy="8686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901952"/>
            <a:ext cx="10835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Policymakers &amp; Government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EU Climate Law and European Green Deal require evidence-based monitoring. Our statistical analysis directly supports Alpine Convention obligations and national climate adaptation plans.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889504"/>
            <a:ext cx="11247120" cy="868680"/>
          </a:xfrm>
          <a:prstGeom prst="rect">
            <a:avLst>
              <a:gd name="adj" fmla="val 5263"/>
            </a:avLst>
          </a:prstGeom>
          <a:solidFill>
            <a:srgbClr val="242B4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889504"/>
            <a:ext cx="64008" cy="8686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889504"/>
            <a:ext cx="10835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Water Security — 170M+ People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Alpine snowmelt feeds the Rhine, Danube, Po, and Rhone rivers. Projections show low-elevation snow dropping to 76 days by 2050 (57 under RCP 8.5), threatening hydropower, agriculture, and municipal water.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877056"/>
            <a:ext cx="11247120" cy="868680"/>
          </a:xfrm>
          <a:prstGeom prst="rect">
            <a:avLst>
              <a:gd name="adj" fmla="val 5263"/>
            </a:avLst>
          </a:prstGeom>
          <a:solidFill>
            <a:srgbClr val="242B4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877056"/>
            <a:ext cx="64008" cy="8686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877056"/>
            <a:ext cx="10835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the Ski Industry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Low-elevation resorts (&lt;1500m) face ~2.5 months of snow by 2050 (76 days current trend, 57 under RCP 8.5). This helps the 70B+ euro ski industry make data-driven decisions about snowmaking and diversification.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864608"/>
            <a:ext cx="11247120" cy="868680"/>
          </a:xfrm>
          <a:prstGeom prst="rect">
            <a:avLst>
              <a:gd name="adj" fmla="val 5263"/>
            </a:avLst>
          </a:prstGeom>
          <a:solidFill>
            <a:srgbClr val="242B4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4864608"/>
            <a:ext cx="64008" cy="8686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864608"/>
            <a:ext cx="10835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Answering "So What?" for Satellite Data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ERA5 reanalysis is the only source providing consistent, gap-free, 25-year coverage across remote Alpine locations. SnowLens makes it accessible to everyone, not just climate scientists.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SnowLens Goes Next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3566160" cy="2926080"/>
          </a:xfrm>
          <a:prstGeom prst="rect">
            <a:avLst>
              <a:gd name="adj" fmla="val 1563"/>
            </a:avLst>
          </a:prstGeom>
          <a:solidFill>
            <a:srgbClr val="242B4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64008" cy="29260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05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Immediate Enhancements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Copernicus CDS for gridded satellite imagery — pixel-level spatial resolution (API key configured)</a:t>
            </a:r>
            <a:endParaRPr lang="en-US" sz="9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NLP-powered claim matching — free-text input using natural language processing</a:t>
            </a:r>
            <a:endParaRPr lang="en-US" sz="9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MODIS snow cover imagery for visual satellite map overlays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206240" y="914400"/>
            <a:ext cx="3566160" cy="2926080"/>
          </a:xfrm>
          <a:prstGeom prst="rect">
            <a:avLst>
              <a:gd name="adj" fmla="val 1563"/>
            </a:avLst>
          </a:prstGeom>
          <a:solidFill>
            <a:srgbClr val="242B4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06240" y="914400"/>
            <a:ext cx="64008" cy="2926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4389120" y="1005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Expansion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389120" y="1417320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other mountain regions: Pyrenees, Carpathians, Scandinavian mountains, Himalayas</a:t>
            </a:r>
            <a:endParaRPr lang="en-US" sz="9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more elevation bands and increase station density</a:t>
            </a:r>
            <a:endParaRPr lang="en-US" sz="9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precipitation type classification (rain vs. snow transition)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046720" y="914400"/>
            <a:ext cx="3566160" cy="2926080"/>
          </a:xfrm>
          <a:prstGeom prst="rect">
            <a:avLst>
              <a:gd name="adj" fmla="val 1563"/>
            </a:avLst>
          </a:prstGeom>
          <a:solidFill>
            <a:srgbClr val="242B4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0" y="914400"/>
            <a:ext cx="64008" cy="2926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0" y="1005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Partnerships &amp; Deployment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0" y="1417320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fact-checking organizations: AFP Fact Check, Climate Feedback, Full Fact</a:t>
            </a:r>
            <a:endParaRPr lang="en-US" sz="9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journalist API for embedding verdicts directly into news articles</a:t>
            </a:r>
            <a:endParaRPr lang="en-US" sz="9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Collaborate with the European Environment Agency for official monitoring alignment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40233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Sustainable Development Goals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52628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4526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13: Climate Action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91840" y="452628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3291840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840480" y="4526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6: Clean Water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26480" y="452628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6126480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675120" y="4526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15: Life on Land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961120" y="4526280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6" name="Text 24"/>
          <p:cNvSpPr/>
          <p:nvPr/>
        </p:nvSpPr>
        <p:spPr>
          <a:xfrm>
            <a:off x="8961120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509760" y="4526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4: Quality Education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</a:t>
            </a:r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alpineverify.vercel.app</a:t>
            </a:r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Code: </a:t>
            </a:r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github.com/Samudyata/SnowLens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-21.6 days per decade.  R = -0.828.  p = 0.005.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56032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aren’t opinions. This is what the satellites see.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3832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SnowLens — Making climate evidence accessible to everyone.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</a:t>
            </a:r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alpineverify.vercel.app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Code: </a:t>
            </a:r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github.com/Samudyata/SnowLens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53035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#3 | Samudyata, Chinmayi, Shambhavi | Arizona State University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56692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SpaceHACK for Sustainability 2026 | Track: AIB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SnowLens: Where Satellite Data Meets Climate Truth</dc:title>
  <dc:subject>PptxGenJS Presentation</dc:subject>
  <dc:creator>SnowLens Team</dc:creator>
  <cp:lastModifiedBy>SnowLens Team</cp:lastModifiedBy>
  <cp:revision>1</cp:revision>
  <dcterms:created xsi:type="dcterms:W3CDTF">2026-03-28T21:40:49Z</dcterms:created>
  <dcterms:modified xsi:type="dcterms:W3CDTF">2026-03-28T21:40:49Z</dcterms:modified>
</cp:coreProperties>
</file>